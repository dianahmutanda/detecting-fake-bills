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0" r:id="rId5"/>
    <p:sldId id="261" r:id="rId6"/>
    <p:sldId id="262" r:id="rId7"/>
    <p:sldId id="263" r:id="rId8"/>
    <p:sldId id="265" r:id="rId9"/>
    <p:sldId id="266" r:id="rId10"/>
    <p:sldId id="267"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95" autoAdjust="0"/>
    <p:restoredTop sz="94660"/>
  </p:normalViewPr>
  <p:slideViewPr>
    <p:cSldViewPr snapToGrid="0">
      <p:cViewPr varScale="1">
        <p:scale>
          <a:sx n="73" d="100"/>
          <a:sy n="73" d="100"/>
        </p:scale>
        <p:origin x="2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046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950494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02461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91042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089950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135280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414661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481572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335111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36532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5/7/2024</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653677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5/7/2024</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1414795"/>
      </p:ext>
    </p:extLst>
  </p:cSld>
  <p:clrMap bg1="dk1" tx1="lt1" bg2="dk2" tx2="lt2" accent1="accent1" accent2="accent2" accent3="accent3" accent4="accent4" accent5="accent5" accent6="accent6" hlink="hlink" folHlink="folHlink"/>
  <p:sldLayoutIdLst>
    <p:sldLayoutId id="2147483689" r:id="rId1"/>
    <p:sldLayoutId id="2147483688" r:id="rId2"/>
    <p:sldLayoutId id="2147483687" r:id="rId3"/>
    <p:sldLayoutId id="2147483686" r:id="rId4"/>
    <p:sldLayoutId id="2147483685" r:id="rId5"/>
    <p:sldLayoutId id="2147483684" r:id="rId6"/>
    <p:sldLayoutId id="2147483683" r:id="rId7"/>
    <p:sldLayoutId id="2147483682" r:id="rId8"/>
    <p:sldLayoutId id="2147483681" r:id="rId9"/>
    <p:sldLayoutId id="2147483680" r:id="rId10"/>
    <p:sldLayoutId id="2147483679"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www.publicdomainpictures.net/en/view-image.php?image=214577&amp;picture=mone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alexandrepetit881234/fake-bills/dat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oreilly.com/library/view/python-for-data/9781491957653/" TargetMode="External"/><Relationship Id="rId2" Type="http://schemas.openxmlformats.org/officeDocument/2006/relationships/hyperlink" Target="https://www.kaggle.com/datasets/alexandrepetit881234/fake-bills/data" TargetMode="External"/><Relationship Id="rId1" Type="http://schemas.openxmlformats.org/officeDocument/2006/relationships/slideLayout" Target="../slideLayouts/slideLayout2.xml"/><Relationship Id="rId5" Type="http://schemas.openxmlformats.org/officeDocument/2006/relationships/hyperlink" Target="https://www.youtube.com/channel/UC58v9cLitc8VaCjrcKyAbrw" TargetMode="External"/><Relationship Id="rId4" Type="http://schemas.openxmlformats.org/officeDocument/2006/relationships/hyperlink" Target="https://www.oreilly.com/library/view/hands-on-machine-learning/97814920326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37">
            <a:extLst>
              <a:ext uri="{FF2B5EF4-FFF2-40B4-BE49-F238E27FC236}">
                <a16:creationId xmlns:a16="http://schemas.microsoft.com/office/drawing/2014/main" id="{91C2F78B-DEE8-4195-A196-DFC51BDAD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A1D79D08-4BE8-4799-BE09-5078DFE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0" name="Straight Connector 39">
            <a:extLst>
              <a:ext uri="{FF2B5EF4-FFF2-40B4-BE49-F238E27FC236}">
                <a16:creationId xmlns:a16="http://schemas.microsoft.com/office/drawing/2014/main" id="{C95D65A1-16CB-407F-993F-2A6D59BCC0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1" name="Rectangle 40">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BF69DA-35D4-DB02-1CEA-CB2E5E96B2C2}"/>
              </a:ext>
            </a:extLst>
          </p:cNvPr>
          <p:cNvSpPr>
            <a:spLocks noGrp="1"/>
          </p:cNvSpPr>
          <p:nvPr>
            <p:ph type="ctrTitle"/>
          </p:nvPr>
        </p:nvSpPr>
        <p:spPr>
          <a:xfrm>
            <a:off x="1143000" y="872937"/>
            <a:ext cx="5920741" cy="1360898"/>
          </a:xfrm>
        </p:spPr>
        <p:txBody>
          <a:bodyPr vert="horz" lIns="91440" tIns="45720" rIns="91440" bIns="45720" rtlCol="0" anchor="ctr">
            <a:normAutofit/>
          </a:bodyPr>
          <a:lstStyle/>
          <a:p>
            <a:r>
              <a:rPr lang="en-US" sz="4000" b="1" kern="1200" dirty="0">
                <a:solidFill>
                  <a:srgbClr val="FFC000"/>
                </a:solidFill>
                <a:latin typeface="+mj-lt"/>
                <a:ea typeface="+mj-ea"/>
                <a:cs typeface="+mj-cs"/>
              </a:rPr>
              <a:t>Fake Bills  </a:t>
            </a:r>
          </a:p>
        </p:txBody>
      </p:sp>
      <p:sp>
        <p:nvSpPr>
          <p:cNvPr id="3" name="Subtitle 2">
            <a:extLst>
              <a:ext uri="{FF2B5EF4-FFF2-40B4-BE49-F238E27FC236}">
                <a16:creationId xmlns:a16="http://schemas.microsoft.com/office/drawing/2014/main" id="{11A2FCD3-C3F4-A4CB-8DD3-11833DBEC27D}"/>
              </a:ext>
            </a:extLst>
          </p:cNvPr>
          <p:cNvSpPr>
            <a:spLocks noGrp="1"/>
          </p:cNvSpPr>
          <p:nvPr>
            <p:ph type="subTitle" idx="1"/>
          </p:nvPr>
        </p:nvSpPr>
        <p:spPr>
          <a:xfrm>
            <a:off x="1143000" y="2332028"/>
            <a:ext cx="4343398" cy="2779903"/>
          </a:xfrm>
        </p:spPr>
        <p:txBody>
          <a:bodyPr vert="horz" lIns="91440" tIns="45720" rIns="91440" bIns="45720" rtlCol="0">
            <a:normAutofit/>
          </a:bodyPr>
          <a:lstStyle/>
          <a:p>
            <a:pPr marL="342900" indent="-342900">
              <a:lnSpc>
                <a:spcPct val="120000"/>
              </a:lnSpc>
              <a:buFont typeface="Wingdings" panose="05000000000000000000" pitchFamily="2" charset="2"/>
              <a:buChar char="§"/>
            </a:pPr>
            <a:r>
              <a:rPr lang="en-US" dirty="0"/>
              <a:t>Name: Dianah Mutanda</a:t>
            </a:r>
          </a:p>
          <a:p>
            <a:pPr marL="342900" indent="-342900">
              <a:lnSpc>
                <a:spcPct val="120000"/>
              </a:lnSpc>
              <a:buFont typeface="Wingdings" panose="05000000000000000000" pitchFamily="2" charset="2"/>
              <a:buChar char="§"/>
            </a:pPr>
            <a:r>
              <a:rPr lang="en-US" dirty="0"/>
              <a:t>Course ID: CSIT 558</a:t>
            </a:r>
          </a:p>
          <a:p>
            <a:pPr marL="342900" indent="-342900">
              <a:lnSpc>
                <a:spcPct val="120000"/>
              </a:lnSpc>
              <a:buFont typeface="Wingdings" panose="05000000000000000000" pitchFamily="2" charset="2"/>
              <a:buChar char="§"/>
            </a:pPr>
            <a:r>
              <a:rPr lang="en-US" dirty="0"/>
              <a:t>Course Name: Data Mining</a:t>
            </a:r>
          </a:p>
          <a:p>
            <a:pPr marL="342900" indent="-342900">
              <a:lnSpc>
                <a:spcPct val="120000"/>
              </a:lnSpc>
              <a:buFont typeface="Wingdings" panose="05000000000000000000" pitchFamily="2" charset="2"/>
              <a:buChar char="§"/>
            </a:pPr>
            <a:r>
              <a:rPr lang="en-US" dirty="0"/>
              <a:t>Task: Predicative Data Mining</a:t>
            </a:r>
          </a:p>
          <a:p>
            <a:pPr>
              <a:lnSpc>
                <a:spcPct val="120000"/>
              </a:lnSpc>
            </a:pPr>
            <a:endParaRPr lang="en-US" dirty="0"/>
          </a:p>
        </p:txBody>
      </p:sp>
      <p:pic>
        <p:nvPicPr>
          <p:cNvPr id="4" name="Picture 3" descr="A stack of bank cards">
            <a:extLst>
              <a:ext uri="{FF2B5EF4-FFF2-40B4-BE49-F238E27FC236}">
                <a16:creationId xmlns:a16="http://schemas.microsoft.com/office/drawing/2014/main" id="{74E93440-4A92-4EC7-F4A4-2F64DD48A53B}"/>
              </a:ext>
            </a:extLst>
          </p:cNvPr>
          <p:cNvPicPr>
            <a:picLocks noChangeAspect="1"/>
          </p:cNvPicPr>
          <p:nvPr/>
        </p:nvPicPr>
        <p:blipFill rotWithShape="1">
          <a:blip r:embed="rId2"/>
          <a:srcRect l="23907" r="2" b="2"/>
          <a:stretch/>
        </p:blipFill>
        <p:spPr>
          <a:xfrm>
            <a:off x="8297681" y="10"/>
            <a:ext cx="3894321" cy="3428990"/>
          </a:xfrm>
          <a:custGeom>
            <a:avLst/>
            <a:gdLst/>
            <a:ahLst/>
            <a:cxnLst/>
            <a:rect l="l" t="t" r="r" b="b"/>
            <a:pathLst>
              <a:path w="3894321" h="3429000">
                <a:moveTo>
                  <a:pt x="3005296" y="0"/>
                </a:moveTo>
                <a:lnTo>
                  <a:pt x="3031221" y="0"/>
                </a:lnTo>
                <a:lnTo>
                  <a:pt x="3894321" y="0"/>
                </a:lnTo>
                <a:lnTo>
                  <a:pt x="3894321" y="1529274"/>
                </a:lnTo>
                <a:lnTo>
                  <a:pt x="3894321" y="3429000"/>
                </a:lnTo>
                <a:lnTo>
                  <a:pt x="0" y="3429000"/>
                </a:lnTo>
                <a:close/>
              </a:path>
            </a:pathLst>
          </a:custGeom>
        </p:spPr>
      </p:pic>
      <p:pic>
        <p:nvPicPr>
          <p:cNvPr id="12" name="Picture 11" descr="A hand holding a fan of money&#10;&#10;Description automatically generated">
            <a:extLst>
              <a:ext uri="{FF2B5EF4-FFF2-40B4-BE49-F238E27FC236}">
                <a16:creationId xmlns:a16="http://schemas.microsoft.com/office/drawing/2014/main" id="{815B871F-69B0-C591-5B43-AC044CB70E51}"/>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6586" b="18650"/>
          <a:stretch/>
        </p:blipFill>
        <p:spPr>
          <a:xfrm>
            <a:off x="5486400" y="3429000"/>
            <a:ext cx="6741912" cy="3429000"/>
          </a:xfrm>
          <a:custGeom>
            <a:avLst/>
            <a:gdLst/>
            <a:ahLst/>
            <a:cxnLst/>
            <a:rect l="l" t="t" r="r" b="b"/>
            <a:pathLst>
              <a:path w="6899617" h="3429000">
                <a:moveTo>
                  <a:pt x="3005296" y="0"/>
                </a:moveTo>
                <a:lnTo>
                  <a:pt x="6899617" y="0"/>
                </a:lnTo>
                <a:lnTo>
                  <a:pt x="6899617" y="3429000"/>
                </a:lnTo>
                <a:lnTo>
                  <a:pt x="2229334" y="3429000"/>
                </a:lnTo>
                <a:lnTo>
                  <a:pt x="25925" y="3429000"/>
                </a:lnTo>
                <a:lnTo>
                  <a:pt x="0" y="3429000"/>
                </a:lnTo>
                <a:close/>
              </a:path>
            </a:pathLst>
          </a:custGeom>
        </p:spPr>
      </p:pic>
    </p:spTree>
    <p:extLst>
      <p:ext uri="{BB962C8B-B14F-4D97-AF65-F5344CB8AC3E}">
        <p14:creationId xmlns:p14="http://schemas.microsoft.com/office/powerpoint/2010/main" val="3373042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03C8-A73D-C765-A0FE-065610A075A8}"/>
              </a:ext>
            </a:extLst>
          </p:cNvPr>
          <p:cNvSpPr>
            <a:spLocks noGrp="1"/>
          </p:cNvSpPr>
          <p:nvPr>
            <p:ph type="title"/>
          </p:nvPr>
        </p:nvSpPr>
        <p:spPr>
          <a:xfrm>
            <a:off x="1143000" y="-644433"/>
            <a:ext cx="9905999" cy="2072640"/>
          </a:xfrm>
        </p:spPr>
        <p:txBody>
          <a:bodyPr/>
          <a:lstStyle/>
          <a:p>
            <a:pPr algn="ctr"/>
            <a:r>
              <a:rPr lang="en-US" b="1" u="sng" dirty="0">
                <a:solidFill>
                  <a:srgbClr val="FFC000"/>
                </a:solidFill>
                <a:latin typeface="Times New Roman" panose="02020603050405020304" pitchFamily="18" charset="0"/>
                <a:cs typeface="Times New Roman" panose="02020603050405020304" pitchFamily="18" charset="0"/>
              </a:rPr>
              <a:t>Dataset Description</a:t>
            </a:r>
          </a:p>
        </p:txBody>
      </p:sp>
      <p:sp>
        <p:nvSpPr>
          <p:cNvPr id="3" name="Content Placeholder 2">
            <a:extLst>
              <a:ext uri="{FF2B5EF4-FFF2-40B4-BE49-F238E27FC236}">
                <a16:creationId xmlns:a16="http://schemas.microsoft.com/office/drawing/2014/main" id="{C4DD82B3-E426-E382-CCAE-321925E95E9D}"/>
              </a:ext>
            </a:extLst>
          </p:cNvPr>
          <p:cNvSpPr>
            <a:spLocks noGrp="1"/>
          </p:cNvSpPr>
          <p:nvPr>
            <p:ph idx="1"/>
          </p:nvPr>
        </p:nvSpPr>
        <p:spPr>
          <a:xfrm>
            <a:off x="1502231" y="870857"/>
            <a:ext cx="9905999" cy="5199017"/>
          </a:xfrm>
        </p:spPr>
        <p:txBody>
          <a:bodyPr>
            <a:normAutofit/>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dataset, sourced from Kaggle.com, is named "Fake Bills" and comprises measurements of various bill characteristics aimed at predicting their authenticity. The dataset facilitates the development of predictive models to discern between counterfeit and genuine bills. Such models are instrumental in safeguarding businesses against fraudulent activities. The pretraining model includes 1000 real bills and 500 fake bills and can be used to protect businesses against fraud.</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Here is a link to access the data: </a:t>
            </a:r>
            <a:r>
              <a:rPr lang="en-US" sz="1800" dirty="0">
                <a:latin typeface="Times New Roman" panose="02020603050405020304" pitchFamily="18" charset="0"/>
                <a:cs typeface="Times New Roman" panose="02020603050405020304" pitchFamily="18" charset="0"/>
                <a:hlinkClick r:id="rId2"/>
              </a:rPr>
              <a:t>https://www.kaggle.com/datasets/alexandrepetit881234/fake-bills/data</a:t>
            </a: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C9F3821-9914-1BA1-AF56-5D7C53A55F2E}"/>
              </a:ext>
            </a:extLst>
          </p:cNvPr>
          <p:cNvSpPr txBox="1"/>
          <p:nvPr/>
        </p:nvSpPr>
        <p:spPr>
          <a:xfrm>
            <a:off x="6866708" y="3034159"/>
            <a:ext cx="4380413"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original dataset contained 1500 rows and 7 attributes. The Attributes Include:</a:t>
            </a:r>
          </a:p>
          <a:p>
            <a:endParaRPr lang="en-US"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is_genuine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boolean</a:t>
            </a:r>
            <a:endParaRPr lang="en-US"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diagonal: float</a:t>
            </a:r>
          </a:p>
          <a:p>
            <a:pPr marL="742950" lvl="1" indent="-285750">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height_left</a:t>
            </a:r>
            <a:r>
              <a:rPr lang="en-US" dirty="0">
                <a:latin typeface="Times New Roman" panose="02020603050405020304" pitchFamily="18" charset="0"/>
                <a:cs typeface="Times New Roman" panose="02020603050405020304" pitchFamily="18" charset="0"/>
              </a:rPr>
              <a:t>: float</a:t>
            </a:r>
          </a:p>
          <a:p>
            <a:pPr marL="742950" lvl="1" indent="-285750">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height_right</a:t>
            </a:r>
            <a:r>
              <a:rPr lang="en-US" dirty="0">
                <a:latin typeface="Times New Roman" panose="02020603050405020304" pitchFamily="18" charset="0"/>
                <a:cs typeface="Times New Roman" panose="02020603050405020304" pitchFamily="18" charset="0"/>
              </a:rPr>
              <a:t>: float</a:t>
            </a:r>
          </a:p>
          <a:p>
            <a:pPr marL="742950" lvl="1" indent="-285750">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margin_low</a:t>
            </a:r>
            <a:r>
              <a:rPr lang="en-US" dirty="0">
                <a:latin typeface="Times New Roman" panose="02020603050405020304" pitchFamily="18" charset="0"/>
                <a:cs typeface="Times New Roman" panose="02020603050405020304" pitchFamily="18" charset="0"/>
              </a:rPr>
              <a:t>: float</a:t>
            </a:r>
          </a:p>
          <a:p>
            <a:pPr marL="742950" lvl="1" indent="-285750">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margin_upper</a:t>
            </a:r>
            <a:r>
              <a:rPr lang="en-US" dirty="0">
                <a:latin typeface="Times New Roman" panose="02020603050405020304" pitchFamily="18" charset="0"/>
                <a:cs typeface="Times New Roman" panose="02020603050405020304" pitchFamily="18" charset="0"/>
              </a:rPr>
              <a:t>: float</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length: float</a:t>
            </a:r>
          </a:p>
        </p:txBody>
      </p:sp>
      <p:pic>
        <p:nvPicPr>
          <p:cNvPr id="8" name="Picture 7">
            <a:extLst>
              <a:ext uri="{FF2B5EF4-FFF2-40B4-BE49-F238E27FC236}">
                <a16:creationId xmlns:a16="http://schemas.microsoft.com/office/drawing/2014/main" id="{76E6BCBC-201A-E44F-0B1C-9BD01B619A35}"/>
              </a:ext>
            </a:extLst>
          </p:cNvPr>
          <p:cNvPicPr>
            <a:picLocks noChangeAspect="1"/>
          </p:cNvPicPr>
          <p:nvPr/>
        </p:nvPicPr>
        <p:blipFill>
          <a:blip r:embed="rId3"/>
          <a:stretch>
            <a:fillRect/>
          </a:stretch>
        </p:blipFill>
        <p:spPr>
          <a:xfrm>
            <a:off x="1820091" y="3124819"/>
            <a:ext cx="4885509" cy="2862323"/>
          </a:xfrm>
          <a:prstGeom prst="rect">
            <a:avLst/>
          </a:prstGeom>
        </p:spPr>
      </p:pic>
    </p:spTree>
    <p:extLst>
      <p:ext uri="{BB962C8B-B14F-4D97-AF65-F5344CB8AC3E}">
        <p14:creationId xmlns:p14="http://schemas.microsoft.com/office/powerpoint/2010/main" val="398236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6938-8685-6D81-A976-41FE1D2EE6B9}"/>
              </a:ext>
            </a:extLst>
          </p:cNvPr>
          <p:cNvSpPr>
            <a:spLocks noGrp="1"/>
          </p:cNvSpPr>
          <p:nvPr>
            <p:ph type="title"/>
          </p:nvPr>
        </p:nvSpPr>
        <p:spPr>
          <a:xfrm>
            <a:off x="1143000" y="-339634"/>
            <a:ext cx="9905999" cy="1602377"/>
          </a:xfrm>
        </p:spPr>
        <p:txBody>
          <a:bodyPr>
            <a:normAutofit/>
          </a:bodyPr>
          <a:lstStyle/>
          <a:p>
            <a:r>
              <a:rPr lang="en-US" b="1" dirty="0">
                <a:solidFill>
                  <a:srgbClr val="FFC000"/>
                </a:solidFill>
              </a:rPr>
              <a:t>         </a:t>
            </a:r>
            <a:r>
              <a:rPr lang="en-US" b="1" u="sng" dirty="0">
                <a:solidFill>
                  <a:srgbClr val="FFC000"/>
                </a:solidFill>
              </a:rPr>
              <a:t>Objective</a:t>
            </a:r>
          </a:p>
        </p:txBody>
      </p:sp>
      <p:sp>
        <p:nvSpPr>
          <p:cNvPr id="3" name="Content Placeholder 2">
            <a:extLst>
              <a:ext uri="{FF2B5EF4-FFF2-40B4-BE49-F238E27FC236}">
                <a16:creationId xmlns:a16="http://schemas.microsoft.com/office/drawing/2014/main" id="{3981C53B-6E32-872D-7E38-14D105B6B08B}"/>
              </a:ext>
            </a:extLst>
          </p:cNvPr>
          <p:cNvSpPr>
            <a:spLocks noGrp="1"/>
          </p:cNvSpPr>
          <p:nvPr>
            <p:ph idx="1"/>
          </p:nvPr>
        </p:nvSpPr>
        <p:spPr>
          <a:xfrm>
            <a:off x="1454331" y="1020103"/>
            <a:ext cx="4641669" cy="5059679"/>
          </a:xfrm>
        </p:spPr>
        <p:txBody>
          <a:bodyPr>
            <a:normAutofit fontScale="85000" lnSpcReduction="10000"/>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Objective: Employ descriptive data mining techniques, specifically the k-nearest neighbors' algorithm, to categorize bills into distinct groups based on their authenticity. The k-nearest neighbor method is utilized to classify the bills into clusters, leveraging its simplicity, flexibility, and adaptability for descriptive data mining tasks. Following model training, it can effectively categorize new cash bills, offering insights into the legitimacy of a transaction</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After cleaning, the dataset contained 1463 rows and 7 columns. There was one categorical column that was converted to binary.</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target variable is “is genuine”.</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7B853B3-7255-4D02-405B-AD456596963B}"/>
              </a:ext>
            </a:extLst>
          </p:cNvPr>
          <p:cNvPicPr>
            <a:picLocks noChangeAspect="1"/>
          </p:cNvPicPr>
          <p:nvPr/>
        </p:nvPicPr>
        <p:blipFill>
          <a:blip r:embed="rId2"/>
          <a:stretch>
            <a:fillRect/>
          </a:stretch>
        </p:blipFill>
        <p:spPr>
          <a:xfrm>
            <a:off x="6620319" y="3583172"/>
            <a:ext cx="5449759" cy="2518787"/>
          </a:xfrm>
          <a:prstGeom prst="rect">
            <a:avLst/>
          </a:prstGeom>
        </p:spPr>
      </p:pic>
      <p:pic>
        <p:nvPicPr>
          <p:cNvPr id="20" name="Picture 19">
            <a:extLst>
              <a:ext uri="{FF2B5EF4-FFF2-40B4-BE49-F238E27FC236}">
                <a16:creationId xmlns:a16="http://schemas.microsoft.com/office/drawing/2014/main" id="{6CF62084-B03B-2DA3-DF7F-3E3A7DECA59B}"/>
              </a:ext>
            </a:extLst>
          </p:cNvPr>
          <p:cNvPicPr>
            <a:picLocks noChangeAspect="1"/>
          </p:cNvPicPr>
          <p:nvPr/>
        </p:nvPicPr>
        <p:blipFill>
          <a:blip r:embed="rId3"/>
          <a:stretch>
            <a:fillRect/>
          </a:stretch>
        </p:blipFill>
        <p:spPr>
          <a:xfrm>
            <a:off x="6620319" y="113210"/>
            <a:ext cx="5449759" cy="3315789"/>
          </a:xfrm>
          <a:prstGeom prst="rect">
            <a:avLst/>
          </a:prstGeom>
        </p:spPr>
      </p:pic>
    </p:spTree>
    <p:extLst>
      <p:ext uri="{BB962C8B-B14F-4D97-AF65-F5344CB8AC3E}">
        <p14:creationId xmlns:p14="http://schemas.microsoft.com/office/powerpoint/2010/main" val="63240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1B52-AD80-79D5-ED6E-94ACAE32C075}"/>
              </a:ext>
            </a:extLst>
          </p:cNvPr>
          <p:cNvSpPr>
            <a:spLocks noGrp="1"/>
          </p:cNvSpPr>
          <p:nvPr>
            <p:ph type="title"/>
          </p:nvPr>
        </p:nvSpPr>
        <p:spPr>
          <a:xfrm>
            <a:off x="1143000" y="-1097280"/>
            <a:ext cx="9905999" cy="2934789"/>
          </a:xfrm>
        </p:spPr>
        <p:txBody>
          <a:bodyPr/>
          <a:lstStyle/>
          <a:p>
            <a:r>
              <a:rPr lang="en-US" b="1" dirty="0">
                <a:solidFill>
                  <a:srgbClr val="FFC000"/>
                </a:solidFill>
                <a:latin typeface="Times New Roman" panose="02020603050405020304" pitchFamily="18" charset="0"/>
                <a:cs typeface="Times New Roman" panose="02020603050405020304" pitchFamily="18" charset="0"/>
              </a:rPr>
              <a:t>          </a:t>
            </a:r>
            <a:r>
              <a:rPr lang="en-US" b="1" u="sng" dirty="0">
                <a:solidFill>
                  <a:srgbClr val="FFC000"/>
                </a:solidFill>
                <a:latin typeface="Times New Roman" panose="02020603050405020304" pitchFamily="18" charset="0"/>
                <a:cs typeface="Times New Roman" panose="02020603050405020304" pitchFamily="18" charset="0"/>
              </a:rPr>
              <a:t>Finding K-Values</a:t>
            </a:r>
          </a:p>
        </p:txBody>
      </p:sp>
      <p:sp>
        <p:nvSpPr>
          <p:cNvPr id="3" name="Content Placeholder 2">
            <a:extLst>
              <a:ext uri="{FF2B5EF4-FFF2-40B4-BE49-F238E27FC236}">
                <a16:creationId xmlns:a16="http://schemas.microsoft.com/office/drawing/2014/main" id="{39774DF4-D8AE-F243-FBE0-6A0058196548}"/>
              </a:ext>
            </a:extLst>
          </p:cNvPr>
          <p:cNvSpPr>
            <a:spLocks noGrp="1"/>
          </p:cNvSpPr>
          <p:nvPr>
            <p:ph idx="1"/>
          </p:nvPr>
        </p:nvSpPr>
        <p:spPr>
          <a:xfrm>
            <a:off x="2254103" y="1097280"/>
            <a:ext cx="4791132" cy="5033554"/>
          </a:xfrm>
        </p:spPr>
        <p:txBody>
          <a:bodyPr>
            <a:normAutofit fontScale="92500" lnSpcReduction="20000"/>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value of k in the k-nearest neighbors' algorithm is pivotal as it determines the number of nearest neighbors to consider during classification. To determine the optimal k values for three distinct experiments, I employed a k-nearest neighbors' classifier and conducted cross-validation. The classifier was trained on the training data for each k value ranging from 1 to 20. The accuracy and cross-validation accuracy for each k value are illustrated in the line plot.</a:t>
            </a:r>
          </a:p>
          <a:p>
            <a:pPr>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three values I have chosen to use to conduct the experiments are 3, 6, and 18 These values have high accuracy and low standard deviation. The low standard deviation values indicate stability in the performance across the different folds in cross validation.</a:t>
            </a:r>
          </a:p>
        </p:txBody>
      </p:sp>
      <p:pic>
        <p:nvPicPr>
          <p:cNvPr id="5" name="Picture 4">
            <a:extLst>
              <a:ext uri="{FF2B5EF4-FFF2-40B4-BE49-F238E27FC236}">
                <a16:creationId xmlns:a16="http://schemas.microsoft.com/office/drawing/2014/main" id="{66818577-C877-59E1-55F4-89D78E96DAE5}"/>
              </a:ext>
            </a:extLst>
          </p:cNvPr>
          <p:cNvPicPr>
            <a:picLocks noChangeAspect="1"/>
          </p:cNvPicPr>
          <p:nvPr/>
        </p:nvPicPr>
        <p:blipFill>
          <a:blip r:embed="rId2"/>
          <a:stretch>
            <a:fillRect/>
          </a:stretch>
        </p:blipFill>
        <p:spPr>
          <a:xfrm>
            <a:off x="7045236" y="4223657"/>
            <a:ext cx="4908520" cy="2490652"/>
          </a:xfrm>
          <a:prstGeom prst="rect">
            <a:avLst/>
          </a:prstGeom>
        </p:spPr>
      </p:pic>
      <p:pic>
        <p:nvPicPr>
          <p:cNvPr id="7" name="Picture 6">
            <a:extLst>
              <a:ext uri="{FF2B5EF4-FFF2-40B4-BE49-F238E27FC236}">
                <a16:creationId xmlns:a16="http://schemas.microsoft.com/office/drawing/2014/main" id="{03EE397D-0870-FDCD-9CF4-C185DE80AE6F}"/>
              </a:ext>
            </a:extLst>
          </p:cNvPr>
          <p:cNvPicPr>
            <a:picLocks noChangeAspect="1"/>
          </p:cNvPicPr>
          <p:nvPr/>
        </p:nvPicPr>
        <p:blipFill>
          <a:blip r:embed="rId3"/>
          <a:stretch>
            <a:fillRect/>
          </a:stretch>
        </p:blipFill>
        <p:spPr>
          <a:xfrm>
            <a:off x="225378" y="209006"/>
            <a:ext cx="1835244" cy="6505303"/>
          </a:xfrm>
          <a:prstGeom prst="rect">
            <a:avLst/>
          </a:prstGeom>
        </p:spPr>
      </p:pic>
      <p:pic>
        <p:nvPicPr>
          <p:cNvPr id="9" name="Picture 8">
            <a:extLst>
              <a:ext uri="{FF2B5EF4-FFF2-40B4-BE49-F238E27FC236}">
                <a16:creationId xmlns:a16="http://schemas.microsoft.com/office/drawing/2014/main" id="{4F5E7E72-3980-E142-87C1-985DE3628C27}"/>
              </a:ext>
            </a:extLst>
          </p:cNvPr>
          <p:cNvPicPr>
            <a:picLocks noChangeAspect="1"/>
          </p:cNvPicPr>
          <p:nvPr/>
        </p:nvPicPr>
        <p:blipFill>
          <a:blip r:embed="rId4"/>
          <a:stretch>
            <a:fillRect/>
          </a:stretch>
        </p:blipFill>
        <p:spPr>
          <a:xfrm>
            <a:off x="7045236" y="209006"/>
            <a:ext cx="4921386" cy="3823062"/>
          </a:xfrm>
          <a:prstGeom prst="rect">
            <a:avLst/>
          </a:prstGeom>
        </p:spPr>
      </p:pic>
    </p:spTree>
    <p:extLst>
      <p:ext uri="{BB962C8B-B14F-4D97-AF65-F5344CB8AC3E}">
        <p14:creationId xmlns:p14="http://schemas.microsoft.com/office/powerpoint/2010/main" val="257297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1C2F78B-DEE8-4195-A196-DFC51BDAD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A1D79D08-4BE8-4799-BE09-5078DFE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5" name="Straight Connector 14">
            <a:extLst>
              <a:ext uri="{FF2B5EF4-FFF2-40B4-BE49-F238E27FC236}">
                <a16:creationId xmlns:a16="http://schemas.microsoft.com/office/drawing/2014/main" id="{C95D65A1-16CB-407F-993F-2A6D59BCC0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AB20E7A4-EC2C-47C8-BE55-65771E3F2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CF23DDA-0D09-4FE5-AE88-EBBE5E024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885325" cy="6858000"/>
          </a:xfrm>
          <a:custGeom>
            <a:avLst/>
            <a:gdLst>
              <a:gd name="connsiteX0" fmla="*/ 4456883 w 6885325"/>
              <a:gd name="connsiteY0" fmla="*/ 6858000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4 w 6885325"/>
              <a:gd name="connsiteY5" fmla="*/ 1545582 h 6858000"/>
              <a:gd name="connsiteX6" fmla="*/ 6885324 w 6885325"/>
              <a:gd name="connsiteY6" fmla="*/ 4070877 h 6858000"/>
              <a:gd name="connsiteX7" fmla="*/ 6885325 w 6885325"/>
              <a:gd name="connsiteY7" fmla="*/ 4070876 h 6858000"/>
              <a:gd name="connsiteX8" fmla="*/ 6885325 w 6885325"/>
              <a:gd name="connsiteY8" fmla="*/ 6857999 h 6858000"/>
              <a:gd name="connsiteX9" fmla="*/ 4456884 w 6885325"/>
              <a:gd name="connsiteY9" fmla="*/ 6857999 h 6858000"/>
              <a:gd name="connsiteX0" fmla="*/ 4456884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4 w 6885325"/>
              <a:gd name="connsiteY5" fmla="*/ 1545582 h 6858000"/>
              <a:gd name="connsiteX6" fmla="*/ 6885324 w 6885325"/>
              <a:gd name="connsiteY6" fmla="*/ 4070877 h 6858000"/>
              <a:gd name="connsiteX7" fmla="*/ 6885325 w 6885325"/>
              <a:gd name="connsiteY7" fmla="*/ 4070876 h 6858000"/>
              <a:gd name="connsiteX8" fmla="*/ 6885325 w 6885325"/>
              <a:gd name="connsiteY8" fmla="*/ 6857999 h 6858000"/>
              <a:gd name="connsiteX9" fmla="*/ 4456884 w 6885325"/>
              <a:gd name="connsiteY9" fmla="*/ 6857999 h 6858000"/>
              <a:gd name="connsiteX0" fmla="*/ 6885325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4 w 6885325"/>
              <a:gd name="connsiteY5" fmla="*/ 1545582 h 6858000"/>
              <a:gd name="connsiteX6" fmla="*/ 6885324 w 6885325"/>
              <a:gd name="connsiteY6" fmla="*/ 4070877 h 6858000"/>
              <a:gd name="connsiteX7" fmla="*/ 6885325 w 6885325"/>
              <a:gd name="connsiteY7" fmla="*/ 4070876 h 6858000"/>
              <a:gd name="connsiteX8" fmla="*/ 6885325 w 6885325"/>
              <a:gd name="connsiteY8" fmla="*/ 6857999 h 6858000"/>
              <a:gd name="connsiteX0" fmla="*/ 6885325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4 w 6885325"/>
              <a:gd name="connsiteY5" fmla="*/ 1545582 h 6858000"/>
              <a:gd name="connsiteX6" fmla="*/ 6885324 w 6885325"/>
              <a:gd name="connsiteY6" fmla="*/ 4070877 h 6858000"/>
              <a:gd name="connsiteX7" fmla="*/ 6885325 w 6885325"/>
              <a:gd name="connsiteY7" fmla="*/ 6857999 h 6858000"/>
              <a:gd name="connsiteX0" fmla="*/ 6885325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4 w 6885325"/>
              <a:gd name="connsiteY5" fmla="*/ 1545582 h 6858000"/>
              <a:gd name="connsiteX6" fmla="*/ 6885325 w 6885325"/>
              <a:gd name="connsiteY6" fmla="*/ 6857999 h 6858000"/>
              <a:gd name="connsiteX0" fmla="*/ 6885325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1545581 h 6858000"/>
              <a:gd name="connsiteX5" fmla="*/ 6885325 w 6885325"/>
              <a:gd name="connsiteY5" fmla="*/ 6857999 h 6858000"/>
              <a:gd name="connsiteX0" fmla="*/ 6885325 w 6885325"/>
              <a:gd name="connsiteY0" fmla="*/ 6857999 h 6858000"/>
              <a:gd name="connsiteX1" fmla="*/ 0 w 6885325"/>
              <a:gd name="connsiteY1" fmla="*/ 6858000 h 6858000"/>
              <a:gd name="connsiteX2" fmla="*/ 6010592 w 6885325"/>
              <a:gd name="connsiteY2" fmla="*/ 0 h 6858000"/>
              <a:gd name="connsiteX3" fmla="*/ 6885325 w 6885325"/>
              <a:gd name="connsiteY3" fmla="*/ 0 h 6858000"/>
              <a:gd name="connsiteX4" fmla="*/ 6885325 w 6885325"/>
              <a:gd name="connsiteY4" fmla="*/ 685799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5325" h="6858000">
                <a:moveTo>
                  <a:pt x="6885325" y="6857999"/>
                </a:moveTo>
                <a:lnTo>
                  <a:pt x="0" y="6858000"/>
                </a:lnTo>
                <a:lnTo>
                  <a:pt x="6010592" y="0"/>
                </a:lnTo>
                <a:lnTo>
                  <a:pt x="6885325" y="0"/>
                </a:lnTo>
                <a:lnTo>
                  <a:pt x="6885325" y="6857999"/>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25B3308-8434-FF40-FF2F-DC023A9BB27C}"/>
              </a:ext>
            </a:extLst>
          </p:cNvPr>
          <p:cNvSpPr>
            <a:spLocks noGrp="1"/>
          </p:cNvSpPr>
          <p:nvPr>
            <p:ph type="title"/>
          </p:nvPr>
        </p:nvSpPr>
        <p:spPr>
          <a:xfrm>
            <a:off x="-357051" y="418011"/>
            <a:ext cx="4284617" cy="661852"/>
          </a:xfrm>
        </p:spPr>
        <p:txBody>
          <a:bodyPr vert="horz" lIns="91440" tIns="45720" rIns="91440" bIns="45720" rtlCol="0" anchor="t">
            <a:normAutofit fontScale="90000"/>
          </a:bodyPr>
          <a:lstStyle/>
          <a:p>
            <a:pPr algn="ctr"/>
            <a:r>
              <a:rPr lang="en-US" b="1" u="sng" kern="1200" dirty="0">
                <a:solidFill>
                  <a:srgbClr val="FFC000"/>
                </a:solidFill>
                <a:latin typeface="+mj-lt"/>
                <a:ea typeface="+mj-ea"/>
                <a:cs typeface="+mj-cs"/>
              </a:rPr>
              <a:t>Experiments</a:t>
            </a:r>
          </a:p>
        </p:txBody>
      </p:sp>
      <p:pic>
        <p:nvPicPr>
          <p:cNvPr id="6" name="Content Placeholder 5" descr="A screenshot of a graph&#10;&#10;Description automatically generated">
            <a:extLst>
              <a:ext uri="{FF2B5EF4-FFF2-40B4-BE49-F238E27FC236}">
                <a16:creationId xmlns:a16="http://schemas.microsoft.com/office/drawing/2014/main" id="{3EAF49B5-F2AB-F2BE-012D-9761930B83BE}"/>
              </a:ext>
            </a:extLst>
          </p:cNvPr>
          <p:cNvPicPr>
            <a:picLocks noGrp="1" noChangeAspect="1"/>
          </p:cNvPicPr>
          <p:nvPr>
            <p:ph sz="half" idx="2"/>
          </p:nvPr>
        </p:nvPicPr>
        <p:blipFill>
          <a:blip r:embed="rId2"/>
          <a:stretch>
            <a:fillRect/>
          </a:stretch>
        </p:blipFill>
        <p:spPr>
          <a:xfrm>
            <a:off x="6666314" y="1410334"/>
            <a:ext cx="3169920" cy="1881433"/>
          </a:xfrm>
          <a:prstGeom prst="rect">
            <a:avLst/>
          </a:prstGeom>
        </p:spPr>
      </p:pic>
      <p:sp>
        <p:nvSpPr>
          <p:cNvPr id="3" name="Content Placeholder 2">
            <a:extLst>
              <a:ext uri="{FF2B5EF4-FFF2-40B4-BE49-F238E27FC236}">
                <a16:creationId xmlns:a16="http://schemas.microsoft.com/office/drawing/2014/main" id="{DC2222DD-AE7F-2AC4-8ED6-F69BE988584C}"/>
              </a:ext>
            </a:extLst>
          </p:cNvPr>
          <p:cNvSpPr>
            <a:spLocks noGrp="1"/>
          </p:cNvSpPr>
          <p:nvPr>
            <p:ph sz="half" idx="1"/>
          </p:nvPr>
        </p:nvSpPr>
        <p:spPr>
          <a:xfrm>
            <a:off x="5453548" y="3428999"/>
            <a:ext cx="5595452" cy="2588621"/>
          </a:xfrm>
        </p:spPr>
        <p:txBody>
          <a:bodyPr vert="horz" lIns="91440" tIns="45720" rIns="91440" bIns="45720" rtlCol="0" anchor="b">
            <a:noAutofit/>
          </a:bodyPr>
          <a:lstStyle/>
          <a:p>
            <a:pPr>
              <a:lnSpc>
                <a:spcPct val="11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Three experiments were run using the KNN classifier and using k values of 3, 6, and 18. The k value has  a positive correlation relationship with accuracy.</a:t>
            </a:r>
          </a:p>
          <a:p>
            <a:pPr>
              <a:lnSpc>
                <a:spcPct val="11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From the accuracy graph we can tell that in most cases, the testing accuracy is higher than the training accuracy which indicates that the model is most likely not overfitting the data and that the model can generalize well to new data.</a:t>
            </a:r>
          </a:p>
        </p:txBody>
      </p:sp>
      <p:cxnSp>
        <p:nvCxnSpPr>
          <p:cNvPr id="21" name="Straight Connector 20">
            <a:extLst>
              <a:ext uri="{FF2B5EF4-FFF2-40B4-BE49-F238E27FC236}">
                <a16:creationId xmlns:a16="http://schemas.microsoft.com/office/drawing/2014/main" id="{1766FD2F-248A-4AA1-8078-E26D6E690B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2C29DF2-3D46-073C-835F-602E142D88D7}"/>
              </a:ext>
            </a:extLst>
          </p:cNvPr>
          <p:cNvPicPr>
            <a:picLocks noChangeAspect="1"/>
          </p:cNvPicPr>
          <p:nvPr/>
        </p:nvPicPr>
        <p:blipFill>
          <a:blip r:embed="rId3"/>
          <a:stretch>
            <a:fillRect/>
          </a:stretch>
        </p:blipFill>
        <p:spPr>
          <a:xfrm>
            <a:off x="146873" y="1410334"/>
            <a:ext cx="4890540" cy="4302488"/>
          </a:xfrm>
          <a:prstGeom prst="rect">
            <a:avLst/>
          </a:prstGeom>
        </p:spPr>
      </p:pic>
    </p:spTree>
    <p:extLst>
      <p:ext uri="{BB962C8B-B14F-4D97-AF65-F5344CB8AC3E}">
        <p14:creationId xmlns:p14="http://schemas.microsoft.com/office/powerpoint/2010/main" val="2121080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DFFD5-C284-7AE7-45D5-A84B06662EBA}"/>
              </a:ext>
            </a:extLst>
          </p:cNvPr>
          <p:cNvSpPr>
            <a:spLocks noGrp="1"/>
          </p:cNvSpPr>
          <p:nvPr>
            <p:ph type="title"/>
          </p:nvPr>
        </p:nvSpPr>
        <p:spPr>
          <a:xfrm>
            <a:off x="1143000" y="-69669"/>
            <a:ext cx="9905999" cy="1249680"/>
          </a:xfrm>
        </p:spPr>
        <p:txBody>
          <a:bodyPr/>
          <a:lstStyle/>
          <a:p>
            <a:pPr algn="ctr"/>
            <a:r>
              <a:rPr lang="en-US" b="1" u="sng" dirty="0">
                <a:solidFill>
                  <a:srgbClr val="FFC000"/>
                </a:solidFill>
                <a:latin typeface="Times New Roman" panose="02020603050405020304" pitchFamily="18" charset="0"/>
                <a:cs typeface="Times New Roman" panose="02020603050405020304" pitchFamily="18" charset="0"/>
              </a:rPr>
              <a:t>Creating a Classifier</a:t>
            </a:r>
          </a:p>
        </p:txBody>
      </p:sp>
      <p:sp>
        <p:nvSpPr>
          <p:cNvPr id="3" name="Content Placeholder 2">
            <a:extLst>
              <a:ext uri="{FF2B5EF4-FFF2-40B4-BE49-F238E27FC236}">
                <a16:creationId xmlns:a16="http://schemas.microsoft.com/office/drawing/2014/main" id="{1F25F704-295A-0E3C-2B83-EC78F5BE4267}"/>
              </a:ext>
            </a:extLst>
          </p:cNvPr>
          <p:cNvSpPr>
            <a:spLocks noGrp="1"/>
          </p:cNvSpPr>
          <p:nvPr>
            <p:ph idx="1"/>
          </p:nvPr>
        </p:nvSpPr>
        <p:spPr>
          <a:xfrm>
            <a:off x="1567543" y="1180011"/>
            <a:ext cx="4528457" cy="4719133"/>
          </a:xfrm>
        </p:spPr>
        <p:txBody>
          <a:bodyPr>
            <a:normAutofit lnSpcReduction="10000"/>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classifier is employed to discern whether a bill is counterfeit or genuine based on provided dimensions. The "</a:t>
            </a:r>
            <a:r>
              <a:rPr lang="en-US" dirty="0" err="1">
                <a:latin typeface="Times New Roman" panose="02020603050405020304" pitchFamily="18" charset="0"/>
                <a:cs typeface="Times New Roman" panose="02020603050405020304" pitchFamily="18" charset="0"/>
              </a:rPr>
              <a:t>Fake_Bills</a:t>
            </a:r>
            <a:r>
              <a:rPr lang="en-US" dirty="0">
                <a:latin typeface="Times New Roman" panose="02020603050405020304" pitchFamily="18" charset="0"/>
                <a:cs typeface="Times New Roman" panose="02020603050405020304" pitchFamily="18" charset="0"/>
              </a:rPr>
              <a:t>" classifier is instantiated with a k-nearest neighbors' model where k=3.</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User input will comprise the new bill dimensions, which will subsequently undergo preprocessing tailored for the KNN classifier. This input can be generated using a money counting machine that stops when a fake bill is detected.</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839A5A1-9FAD-0E67-E26B-4EA0B68BFC16}"/>
              </a:ext>
            </a:extLst>
          </p:cNvPr>
          <p:cNvPicPr>
            <a:picLocks noChangeAspect="1"/>
          </p:cNvPicPr>
          <p:nvPr/>
        </p:nvPicPr>
        <p:blipFill>
          <a:blip r:embed="rId2"/>
          <a:stretch>
            <a:fillRect/>
          </a:stretch>
        </p:blipFill>
        <p:spPr>
          <a:xfrm>
            <a:off x="6324532" y="1297171"/>
            <a:ext cx="5562668" cy="4601973"/>
          </a:xfrm>
          <a:prstGeom prst="rect">
            <a:avLst/>
          </a:prstGeom>
        </p:spPr>
      </p:pic>
    </p:spTree>
    <p:extLst>
      <p:ext uri="{BB962C8B-B14F-4D97-AF65-F5344CB8AC3E}">
        <p14:creationId xmlns:p14="http://schemas.microsoft.com/office/powerpoint/2010/main" val="2223246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3D54-BF73-9A7C-E216-160FA549D323}"/>
              </a:ext>
            </a:extLst>
          </p:cNvPr>
          <p:cNvSpPr>
            <a:spLocks noGrp="1"/>
          </p:cNvSpPr>
          <p:nvPr>
            <p:ph type="title"/>
          </p:nvPr>
        </p:nvSpPr>
        <p:spPr>
          <a:xfrm>
            <a:off x="2193852" y="-1095152"/>
            <a:ext cx="9905999" cy="3051543"/>
          </a:xfrm>
        </p:spPr>
        <p:txBody>
          <a:bodyPr/>
          <a:lstStyle/>
          <a:p>
            <a:r>
              <a:rPr lang="en-US" b="1" u="sng" dirty="0">
                <a:solidFill>
                  <a:srgbClr val="FFC000"/>
                </a:solidFill>
                <a:latin typeface="Times New Roman" panose="02020603050405020304" pitchFamily="18" charset="0"/>
                <a:cs typeface="Times New Roman" panose="02020603050405020304" pitchFamily="18" charset="0"/>
              </a:rPr>
              <a:t>Machine Input 1</a:t>
            </a:r>
          </a:p>
        </p:txBody>
      </p:sp>
      <p:sp>
        <p:nvSpPr>
          <p:cNvPr id="3" name="Content Placeholder 2">
            <a:extLst>
              <a:ext uri="{FF2B5EF4-FFF2-40B4-BE49-F238E27FC236}">
                <a16:creationId xmlns:a16="http://schemas.microsoft.com/office/drawing/2014/main" id="{AFA4E288-807F-5011-F015-4AAE6AB411DB}"/>
              </a:ext>
            </a:extLst>
          </p:cNvPr>
          <p:cNvSpPr>
            <a:spLocks noGrp="1"/>
          </p:cNvSpPr>
          <p:nvPr>
            <p:ph idx="1"/>
          </p:nvPr>
        </p:nvSpPr>
        <p:spPr>
          <a:xfrm>
            <a:off x="1476104" y="4796986"/>
            <a:ext cx="10145282" cy="1337999"/>
          </a:xfrm>
        </p:spPr>
        <p:txBody>
          <a:bodyPr>
            <a:normAutofit lnSpcReduction="10000"/>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information fed into the money counting machine is transformed into a </a:t>
            </a:r>
            <a:r>
              <a:rPr lang="en-US" sz="1800" dirty="0" err="1">
                <a:latin typeface="Times New Roman" panose="02020603050405020304" pitchFamily="18" charset="0"/>
                <a:cs typeface="Times New Roman" panose="02020603050405020304" pitchFamily="18" charset="0"/>
              </a:rPr>
              <a:t>DataFrame</a:t>
            </a:r>
            <a:r>
              <a:rPr lang="en-US" sz="1800" dirty="0">
                <a:latin typeface="Times New Roman" panose="02020603050405020304" pitchFamily="18" charset="0"/>
                <a:cs typeface="Times New Roman" panose="02020603050405020304" pitchFamily="18" charset="0"/>
              </a:rPr>
              <a:t>, and subsequently, the classifier is invoked to determine the authenticity of the bill. In this scenario, given the data provided by the machine, the bill is highly likely to be counterfeit. Consequently, the machine will halt its counting process until the flagged bill is removed.</a:t>
            </a:r>
          </a:p>
        </p:txBody>
      </p:sp>
      <p:pic>
        <p:nvPicPr>
          <p:cNvPr id="5" name="Picture 4">
            <a:extLst>
              <a:ext uri="{FF2B5EF4-FFF2-40B4-BE49-F238E27FC236}">
                <a16:creationId xmlns:a16="http://schemas.microsoft.com/office/drawing/2014/main" id="{4F7187FF-E525-A1FA-B02B-445C3A25EA99}"/>
              </a:ext>
            </a:extLst>
          </p:cNvPr>
          <p:cNvPicPr>
            <a:picLocks noChangeAspect="1"/>
          </p:cNvPicPr>
          <p:nvPr/>
        </p:nvPicPr>
        <p:blipFill>
          <a:blip r:embed="rId2"/>
          <a:stretch>
            <a:fillRect/>
          </a:stretch>
        </p:blipFill>
        <p:spPr>
          <a:xfrm>
            <a:off x="1915886" y="2077059"/>
            <a:ext cx="4367956" cy="1703592"/>
          </a:xfrm>
          <a:prstGeom prst="rect">
            <a:avLst/>
          </a:prstGeom>
        </p:spPr>
      </p:pic>
      <p:sp>
        <p:nvSpPr>
          <p:cNvPr id="6" name="TextBox 5">
            <a:extLst>
              <a:ext uri="{FF2B5EF4-FFF2-40B4-BE49-F238E27FC236}">
                <a16:creationId xmlns:a16="http://schemas.microsoft.com/office/drawing/2014/main" id="{A65561FD-DE31-0CBC-A046-E6C4774C05F4}"/>
              </a:ext>
            </a:extLst>
          </p:cNvPr>
          <p:cNvSpPr txBox="1"/>
          <p:nvPr/>
        </p:nvSpPr>
        <p:spPr>
          <a:xfrm>
            <a:off x="1476104" y="978988"/>
            <a:ext cx="9905999"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money counting machine is able to scan the bills and extract their respective dimension. This dimensions are then keyed in as user input. The pop-up box shown represents the input that should be entered next.</a:t>
            </a:r>
          </a:p>
        </p:txBody>
      </p:sp>
      <p:pic>
        <p:nvPicPr>
          <p:cNvPr id="8" name="Picture 7">
            <a:extLst>
              <a:ext uri="{FF2B5EF4-FFF2-40B4-BE49-F238E27FC236}">
                <a16:creationId xmlns:a16="http://schemas.microsoft.com/office/drawing/2014/main" id="{3C0E15E3-1821-477A-7CD7-671A290A8004}"/>
              </a:ext>
            </a:extLst>
          </p:cNvPr>
          <p:cNvPicPr>
            <a:picLocks noChangeAspect="1"/>
          </p:cNvPicPr>
          <p:nvPr/>
        </p:nvPicPr>
        <p:blipFill>
          <a:blip r:embed="rId3"/>
          <a:stretch>
            <a:fillRect/>
          </a:stretch>
        </p:blipFill>
        <p:spPr>
          <a:xfrm>
            <a:off x="1915886" y="4005944"/>
            <a:ext cx="4367956" cy="574644"/>
          </a:xfrm>
          <a:prstGeom prst="rect">
            <a:avLst/>
          </a:prstGeom>
        </p:spPr>
      </p:pic>
      <p:pic>
        <p:nvPicPr>
          <p:cNvPr id="10" name="Picture 9">
            <a:extLst>
              <a:ext uri="{FF2B5EF4-FFF2-40B4-BE49-F238E27FC236}">
                <a16:creationId xmlns:a16="http://schemas.microsoft.com/office/drawing/2014/main" id="{A5897F7D-9306-B04F-A6B7-6EB23EE5B9A3}"/>
              </a:ext>
            </a:extLst>
          </p:cNvPr>
          <p:cNvPicPr>
            <a:picLocks noChangeAspect="1"/>
          </p:cNvPicPr>
          <p:nvPr/>
        </p:nvPicPr>
        <p:blipFill>
          <a:blip r:embed="rId4"/>
          <a:stretch>
            <a:fillRect/>
          </a:stretch>
        </p:blipFill>
        <p:spPr>
          <a:xfrm>
            <a:off x="7146851" y="2860950"/>
            <a:ext cx="4580861" cy="1714321"/>
          </a:xfrm>
          <a:prstGeom prst="rect">
            <a:avLst/>
          </a:prstGeom>
        </p:spPr>
      </p:pic>
      <p:pic>
        <p:nvPicPr>
          <p:cNvPr id="12" name="Picture 11">
            <a:extLst>
              <a:ext uri="{FF2B5EF4-FFF2-40B4-BE49-F238E27FC236}">
                <a16:creationId xmlns:a16="http://schemas.microsoft.com/office/drawing/2014/main" id="{F7F2073F-B50A-A1CC-760A-4338D9D979FB}"/>
              </a:ext>
            </a:extLst>
          </p:cNvPr>
          <p:cNvPicPr>
            <a:picLocks noChangeAspect="1"/>
          </p:cNvPicPr>
          <p:nvPr/>
        </p:nvPicPr>
        <p:blipFill>
          <a:blip r:embed="rId5"/>
          <a:stretch>
            <a:fillRect/>
          </a:stretch>
        </p:blipFill>
        <p:spPr>
          <a:xfrm>
            <a:off x="7146851" y="2061013"/>
            <a:ext cx="4580861" cy="569919"/>
          </a:xfrm>
          <a:prstGeom prst="rect">
            <a:avLst/>
          </a:prstGeom>
        </p:spPr>
      </p:pic>
    </p:spTree>
    <p:extLst>
      <p:ext uri="{BB962C8B-B14F-4D97-AF65-F5344CB8AC3E}">
        <p14:creationId xmlns:p14="http://schemas.microsoft.com/office/powerpoint/2010/main" val="109970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49A77-EF4A-B2B7-747C-EC72ABE65A16}"/>
              </a:ext>
            </a:extLst>
          </p:cNvPr>
          <p:cNvSpPr>
            <a:spLocks noGrp="1"/>
          </p:cNvSpPr>
          <p:nvPr>
            <p:ph type="title"/>
          </p:nvPr>
        </p:nvSpPr>
        <p:spPr>
          <a:xfrm>
            <a:off x="2200939" y="-457200"/>
            <a:ext cx="8954385" cy="1874144"/>
          </a:xfrm>
        </p:spPr>
        <p:txBody>
          <a:bodyPr/>
          <a:lstStyle/>
          <a:p>
            <a:r>
              <a:rPr lang="en-US" b="1" u="sng" dirty="0">
                <a:solidFill>
                  <a:srgbClr val="FFC000"/>
                </a:solidFill>
                <a:latin typeface="Times New Roman" panose="02020603050405020304" pitchFamily="18" charset="0"/>
                <a:cs typeface="Times New Roman" panose="02020603050405020304" pitchFamily="18" charset="0"/>
              </a:rPr>
              <a:t>Machine Input 2</a:t>
            </a:r>
            <a:endParaRPr lang="en-US" dirty="0"/>
          </a:p>
        </p:txBody>
      </p:sp>
      <p:sp>
        <p:nvSpPr>
          <p:cNvPr id="3" name="Content Placeholder 2">
            <a:extLst>
              <a:ext uri="{FF2B5EF4-FFF2-40B4-BE49-F238E27FC236}">
                <a16:creationId xmlns:a16="http://schemas.microsoft.com/office/drawing/2014/main" id="{C8824FCC-4AFC-0C8E-7E40-54D3DC4B5EFA}"/>
              </a:ext>
            </a:extLst>
          </p:cNvPr>
          <p:cNvSpPr>
            <a:spLocks noGrp="1"/>
          </p:cNvSpPr>
          <p:nvPr>
            <p:ph idx="1"/>
          </p:nvPr>
        </p:nvSpPr>
        <p:spPr>
          <a:xfrm>
            <a:off x="1647056" y="4632960"/>
            <a:ext cx="10144349" cy="1266183"/>
          </a:xfrm>
        </p:spPr>
        <p:txBody>
          <a:bodyPr>
            <a:normAutofit fontScale="92500" lnSpcReduction="10000"/>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information fed into the money counting machine is transformed into a </a:t>
            </a:r>
            <a:r>
              <a:rPr lang="en-US" sz="1800" dirty="0" err="1">
                <a:latin typeface="Times New Roman" panose="02020603050405020304" pitchFamily="18" charset="0"/>
                <a:cs typeface="Times New Roman" panose="02020603050405020304" pitchFamily="18" charset="0"/>
              </a:rPr>
              <a:t>DataFrame</a:t>
            </a:r>
            <a:r>
              <a:rPr lang="en-US" sz="1800" dirty="0">
                <a:latin typeface="Times New Roman" panose="02020603050405020304" pitchFamily="18" charset="0"/>
                <a:cs typeface="Times New Roman" panose="02020603050405020304" pitchFamily="18" charset="0"/>
              </a:rPr>
              <a:t>, and subsequently, the classifier is invoked to determine the authenticity of the bill. In this particular scenario, given the data provided by the machine, the bill is highly likely to be legitimate. Therefore, the machine will continue its counting process until it is disrupted and brought to a halt by a counterfeit bill if any.</a:t>
            </a:r>
          </a:p>
          <a:p>
            <a:endParaRPr lang="en-US" sz="1800" dirty="0"/>
          </a:p>
        </p:txBody>
      </p:sp>
      <p:pic>
        <p:nvPicPr>
          <p:cNvPr id="4" name="Picture 3">
            <a:extLst>
              <a:ext uri="{FF2B5EF4-FFF2-40B4-BE49-F238E27FC236}">
                <a16:creationId xmlns:a16="http://schemas.microsoft.com/office/drawing/2014/main" id="{79A2B628-57C6-579C-EEE7-37EC234DA7C2}"/>
              </a:ext>
            </a:extLst>
          </p:cNvPr>
          <p:cNvPicPr>
            <a:picLocks noChangeAspect="1"/>
          </p:cNvPicPr>
          <p:nvPr/>
        </p:nvPicPr>
        <p:blipFill>
          <a:blip r:embed="rId2"/>
          <a:stretch>
            <a:fillRect/>
          </a:stretch>
        </p:blipFill>
        <p:spPr>
          <a:xfrm>
            <a:off x="2027618" y="1978957"/>
            <a:ext cx="4371211" cy="1817980"/>
          </a:xfrm>
          <a:prstGeom prst="rect">
            <a:avLst/>
          </a:prstGeom>
        </p:spPr>
      </p:pic>
      <p:pic>
        <p:nvPicPr>
          <p:cNvPr id="5" name="Picture 4">
            <a:extLst>
              <a:ext uri="{FF2B5EF4-FFF2-40B4-BE49-F238E27FC236}">
                <a16:creationId xmlns:a16="http://schemas.microsoft.com/office/drawing/2014/main" id="{15065D9B-AB5B-5927-A60B-937120DDF68F}"/>
              </a:ext>
            </a:extLst>
          </p:cNvPr>
          <p:cNvPicPr>
            <a:picLocks noChangeAspect="1"/>
          </p:cNvPicPr>
          <p:nvPr/>
        </p:nvPicPr>
        <p:blipFill>
          <a:blip r:embed="rId3"/>
          <a:stretch>
            <a:fillRect/>
          </a:stretch>
        </p:blipFill>
        <p:spPr>
          <a:xfrm>
            <a:off x="2027618" y="3962400"/>
            <a:ext cx="4371211" cy="583473"/>
          </a:xfrm>
          <a:prstGeom prst="rect">
            <a:avLst/>
          </a:prstGeom>
        </p:spPr>
      </p:pic>
      <p:sp>
        <p:nvSpPr>
          <p:cNvPr id="8" name="TextBox 7">
            <a:extLst>
              <a:ext uri="{FF2B5EF4-FFF2-40B4-BE49-F238E27FC236}">
                <a16:creationId xmlns:a16="http://schemas.microsoft.com/office/drawing/2014/main" id="{E14E2AE6-6265-5641-E9A0-D0858A08469F}"/>
              </a:ext>
            </a:extLst>
          </p:cNvPr>
          <p:cNvSpPr txBox="1"/>
          <p:nvPr/>
        </p:nvSpPr>
        <p:spPr>
          <a:xfrm>
            <a:off x="1647057" y="955279"/>
            <a:ext cx="10062147"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money counting machine is able to scan the bills and extract their respective dimension. This dimensions are then keyed in as user input. The pop-up box shown represents the input that should be entered next.</a:t>
            </a:r>
          </a:p>
        </p:txBody>
      </p:sp>
      <p:pic>
        <p:nvPicPr>
          <p:cNvPr id="10" name="Picture 9">
            <a:extLst>
              <a:ext uri="{FF2B5EF4-FFF2-40B4-BE49-F238E27FC236}">
                <a16:creationId xmlns:a16="http://schemas.microsoft.com/office/drawing/2014/main" id="{D42E8852-F51D-EA65-8617-1CE42AB23760}"/>
              </a:ext>
            </a:extLst>
          </p:cNvPr>
          <p:cNvPicPr>
            <a:picLocks noChangeAspect="1"/>
          </p:cNvPicPr>
          <p:nvPr/>
        </p:nvPicPr>
        <p:blipFill>
          <a:blip r:embed="rId4"/>
          <a:stretch>
            <a:fillRect/>
          </a:stretch>
        </p:blipFill>
        <p:spPr>
          <a:xfrm>
            <a:off x="7184571" y="2003395"/>
            <a:ext cx="4197532" cy="711237"/>
          </a:xfrm>
          <a:prstGeom prst="rect">
            <a:avLst/>
          </a:prstGeom>
        </p:spPr>
      </p:pic>
      <p:pic>
        <p:nvPicPr>
          <p:cNvPr id="12" name="Picture 11">
            <a:extLst>
              <a:ext uri="{FF2B5EF4-FFF2-40B4-BE49-F238E27FC236}">
                <a16:creationId xmlns:a16="http://schemas.microsoft.com/office/drawing/2014/main" id="{C7EFEAF4-4E02-4FF6-FD05-49CD7B084AB7}"/>
              </a:ext>
            </a:extLst>
          </p:cNvPr>
          <p:cNvPicPr>
            <a:picLocks noChangeAspect="1"/>
          </p:cNvPicPr>
          <p:nvPr/>
        </p:nvPicPr>
        <p:blipFill>
          <a:blip r:embed="rId5"/>
          <a:stretch>
            <a:fillRect/>
          </a:stretch>
        </p:blipFill>
        <p:spPr>
          <a:xfrm>
            <a:off x="7184571" y="2981301"/>
            <a:ext cx="4197532" cy="1564571"/>
          </a:xfrm>
          <a:prstGeom prst="rect">
            <a:avLst/>
          </a:prstGeom>
        </p:spPr>
      </p:pic>
    </p:spTree>
    <p:extLst>
      <p:ext uri="{BB962C8B-B14F-4D97-AF65-F5344CB8AC3E}">
        <p14:creationId xmlns:p14="http://schemas.microsoft.com/office/powerpoint/2010/main" val="210383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81A12-D9CF-50C1-7D06-2E07F96C475E}"/>
              </a:ext>
            </a:extLst>
          </p:cNvPr>
          <p:cNvSpPr>
            <a:spLocks noGrp="1"/>
          </p:cNvSpPr>
          <p:nvPr>
            <p:ph type="title"/>
          </p:nvPr>
        </p:nvSpPr>
        <p:spPr>
          <a:xfrm>
            <a:off x="2220686" y="-705394"/>
            <a:ext cx="8828313" cy="2271195"/>
          </a:xfrm>
        </p:spPr>
        <p:txBody>
          <a:bodyPr/>
          <a:lstStyle/>
          <a:p>
            <a:r>
              <a:rPr lang="en-US" b="1" u="sng" dirty="0">
                <a:solidFill>
                  <a:srgbClr val="FFC000"/>
                </a:solidFill>
                <a:latin typeface="Times New Roman" panose="02020603050405020304" pitchFamily="18" charset="0"/>
                <a:cs typeface="Times New Roman" panose="02020603050405020304" pitchFamily="18" charset="0"/>
              </a:rPr>
              <a:t>Machine Input 3</a:t>
            </a:r>
            <a:endParaRPr lang="en-US" dirty="0"/>
          </a:p>
        </p:txBody>
      </p:sp>
      <p:sp>
        <p:nvSpPr>
          <p:cNvPr id="3" name="Content Placeholder 2">
            <a:extLst>
              <a:ext uri="{FF2B5EF4-FFF2-40B4-BE49-F238E27FC236}">
                <a16:creationId xmlns:a16="http://schemas.microsoft.com/office/drawing/2014/main" id="{9522BA73-FF67-C170-519A-E2C33E8FFDE7}"/>
              </a:ext>
            </a:extLst>
          </p:cNvPr>
          <p:cNvSpPr>
            <a:spLocks noGrp="1"/>
          </p:cNvSpPr>
          <p:nvPr>
            <p:ph idx="1"/>
          </p:nvPr>
        </p:nvSpPr>
        <p:spPr>
          <a:xfrm>
            <a:off x="1663336" y="4721652"/>
            <a:ext cx="10136777" cy="1383057"/>
          </a:xfrm>
        </p:spPr>
        <p:txBody>
          <a:bodyPr>
            <a:noAutofit/>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information fed into the money counting machine is transformed into a </a:t>
            </a:r>
            <a:r>
              <a:rPr lang="en-US" sz="1800" dirty="0" err="1">
                <a:latin typeface="Times New Roman" panose="02020603050405020304" pitchFamily="18" charset="0"/>
                <a:cs typeface="Times New Roman" panose="02020603050405020304" pitchFamily="18" charset="0"/>
              </a:rPr>
              <a:t>DataFrame</a:t>
            </a:r>
            <a:r>
              <a:rPr lang="en-US" sz="1800" dirty="0">
                <a:latin typeface="Times New Roman" panose="02020603050405020304" pitchFamily="18" charset="0"/>
                <a:cs typeface="Times New Roman" panose="02020603050405020304" pitchFamily="18" charset="0"/>
              </a:rPr>
              <a:t>, and subsequently, the classifier is invoked to determine the authenticity of the bill. In this particular scenario, given the data provided by the machine, the bill is highly likely to be counterfeit. Consequently, the machine will halt its counting process until the flagged bill is removed.</a:t>
            </a:r>
          </a:p>
          <a:p>
            <a:pPr marL="0" indent="0">
              <a:buNone/>
            </a:pPr>
            <a:endParaRPr lang="en-US" sz="1800" dirty="0"/>
          </a:p>
        </p:txBody>
      </p:sp>
      <p:pic>
        <p:nvPicPr>
          <p:cNvPr id="4" name="Picture 3">
            <a:extLst>
              <a:ext uri="{FF2B5EF4-FFF2-40B4-BE49-F238E27FC236}">
                <a16:creationId xmlns:a16="http://schemas.microsoft.com/office/drawing/2014/main" id="{E5E197FD-053D-8B2F-E4C0-EB5F80F5E5F0}"/>
              </a:ext>
            </a:extLst>
          </p:cNvPr>
          <p:cNvPicPr>
            <a:picLocks noChangeAspect="1"/>
          </p:cNvPicPr>
          <p:nvPr/>
        </p:nvPicPr>
        <p:blipFill>
          <a:blip r:embed="rId2"/>
          <a:stretch>
            <a:fillRect/>
          </a:stretch>
        </p:blipFill>
        <p:spPr>
          <a:xfrm>
            <a:off x="2139353" y="1889761"/>
            <a:ext cx="4371211" cy="1875900"/>
          </a:xfrm>
          <a:prstGeom prst="rect">
            <a:avLst/>
          </a:prstGeom>
        </p:spPr>
      </p:pic>
      <p:pic>
        <p:nvPicPr>
          <p:cNvPr id="5" name="Picture 4">
            <a:extLst>
              <a:ext uri="{FF2B5EF4-FFF2-40B4-BE49-F238E27FC236}">
                <a16:creationId xmlns:a16="http://schemas.microsoft.com/office/drawing/2014/main" id="{A869846B-7E7E-163B-C85E-D907F736C26B}"/>
              </a:ext>
            </a:extLst>
          </p:cNvPr>
          <p:cNvPicPr>
            <a:picLocks noChangeAspect="1"/>
          </p:cNvPicPr>
          <p:nvPr/>
        </p:nvPicPr>
        <p:blipFill>
          <a:blip r:embed="rId3"/>
          <a:stretch>
            <a:fillRect/>
          </a:stretch>
        </p:blipFill>
        <p:spPr>
          <a:xfrm>
            <a:off x="2139353" y="3957120"/>
            <a:ext cx="4371211" cy="573074"/>
          </a:xfrm>
          <a:prstGeom prst="rect">
            <a:avLst/>
          </a:prstGeom>
        </p:spPr>
      </p:pic>
      <p:sp>
        <p:nvSpPr>
          <p:cNvPr id="6" name="TextBox 5">
            <a:extLst>
              <a:ext uri="{FF2B5EF4-FFF2-40B4-BE49-F238E27FC236}">
                <a16:creationId xmlns:a16="http://schemas.microsoft.com/office/drawing/2014/main" id="{10F4760C-57B3-CCEE-541C-BDF356D038D2}"/>
              </a:ext>
            </a:extLst>
          </p:cNvPr>
          <p:cNvSpPr txBox="1"/>
          <p:nvPr/>
        </p:nvSpPr>
        <p:spPr>
          <a:xfrm>
            <a:off x="1749333" y="888978"/>
            <a:ext cx="9771018"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money counting machine is able to scan the bills and extract their respective dimension. This dimensions are then keyed in as user input. The pop-up box shown represents the input that should be entered next.</a:t>
            </a:r>
          </a:p>
        </p:txBody>
      </p:sp>
      <p:pic>
        <p:nvPicPr>
          <p:cNvPr id="8" name="Picture 7">
            <a:extLst>
              <a:ext uri="{FF2B5EF4-FFF2-40B4-BE49-F238E27FC236}">
                <a16:creationId xmlns:a16="http://schemas.microsoft.com/office/drawing/2014/main" id="{7265AD4A-DE78-D394-8B67-3068B6DE3273}"/>
              </a:ext>
            </a:extLst>
          </p:cNvPr>
          <p:cNvPicPr>
            <a:picLocks noChangeAspect="1"/>
          </p:cNvPicPr>
          <p:nvPr/>
        </p:nvPicPr>
        <p:blipFill>
          <a:blip r:embed="rId4"/>
          <a:stretch>
            <a:fillRect/>
          </a:stretch>
        </p:blipFill>
        <p:spPr>
          <a:xfrm>
            <a:off x="7358744" y="1889761"/>
            <a:ext cx="4161608" cy="731519"/>
          </a:xfrm>
          <a:prstGeom prst="rect">
            <a:avLst/>
          </a:prstGeom>
        </p:spPr>
      </p:pic>
      <p:pic>
        <p:nvPicPr>
          <p:cNvPr id="10" name="Picture 9">
            <a:extLst>
              <a:ext uri="{FF2B5EF4-FFF2-40B4-BE49-F238E27FC236}">
                <a16:creationId xmlns:a16="http://schemas.microsoft.com/office/drawing/2014/main" id="{9BA7F8D6-9194-A565-1CD6-4AF3663C281B}"/>
              </a:ext>
            </a:extLst>
          </p:cNvPr>
          <p:cNvPicPr>
            <a:picLocks noChangeAspect="1"/>
          </p:cNvPicPr>
          <p:nvPr/>
        </p:nvPicPr>
        <p:blipFill>
          <a:blip r:embed="rId5"/>
          <a:stretch>
            <a:fillRect/>
          </a:stretch>
        </p:blipFill>
        <p:spPr>
          <a:xfrm>
            <a:off x="7358744" y="2984383"/>
            <a:ext cx="4161607" cy="1545811"/>
          </a:xfrm>
          <a:prstGeom prst="rect">
            <a:avLst/>
          </a:prstGeom>
        </p:spPr>
      </p:pic>
    </p:spTree>
    <p:extLst>
      <p:ext uri="{BB962C8B-B14F-4D97-AF65-F5344CB8AC3E}">
        <p14:creationId xmlns:p14="http://schemas.microsoft.com/office/powerpoint/2010/main" val="2942049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CA11-2EEF-0EFF-E2E2-B8E2749C71AC}"/>
              </a:ext>
            </a:extLst>
          </p:cNvPr>
          <p:cNvSpPr>
            <a:spLocks noGrp="1"/>
          </p:cNvSpPr>
          <p:nvPr>
            <p:ph type="title"/>
          </p:nvPr>
        </p:nvSpPr>
        <p:spPr>
          <a:xfrm>
            <a:off x="2473234" y="-200297"/>
            <a:ext cx="9605555" cy="1375954"/>
          </a:xfrm>
        </p:spPr>
        <p:txBody>
          <a:bodyPr/>
          <a:lstStyle/>
          <a:p>
            <a:r>
              <a:rPr lang="en-US" b="1" u="sng" dirty="0">
                <a:solidFill>
                  <a:srgbClr val="FFC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961FA0F-238D-6673-213E-AB7A2C2B5B32}"/>
              </a:ext>
            </a:extLst>
          </p:cNvPr>
          <p:cNvSpPr>
            <a:spLocks noGrp="1"/>
          </p:cNvSpPr>
          <p:nvPr>
            <p:ph idx="1"/>
          </p:nvPr>
        </p:nvSpPr>
        <p:spPr>
          <a:xfrm>
            <a:off x="1143000" y="931817"/>
            <a:ext cx="11109960" cy="5059680"/>
          </a:xfrm>
        </p:spPr>
        <p:txBody>
          <a:bodyPr>
            <a:noAutofit/>
          </a:bodyPr>
          <a:lstStyle/>
          <a:p>
            <a:pP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goal of this project was to leverage descriptive data mining techniques on a dataset pertaining to counterfeit bills, utilizing the k-nearest neighbors algorithm to discern whether a bill is legitimate or counterfeit. The k-nearest neighbor algorithm was selected due to its simplicity, flexibility, and applicability to descriptive data mining tasks. Once the model was trained, it was deployed to classify the authenticity of new input data.</a:t>
            </a:r>
          </a:p>
          <a:p>
            <a:pP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features examined for analysis included diagonal length, height on the left and right sides of the bill, lower and upper margins, and the length of the bill. Categorical features were encoded into binary values. These features played a pivotal role in determining the target variable, namely whether the bill was genuine or counterfeit.</a:t>
            </a:r>
          </a:p>
          <a:p>
            <a:pP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Through experimentation, a k-value of 3 was identified as optimal for the Fake Bills Classifier. This determination was made after evaluating the accuracy of both the training and testing sets and conducting cross-validation with 20 folds across k values ranging from 1 to 20. Ultimately, the k values of 3, 6, and 18 were selected based on their high accuracy and low standard deviation. Among these, a k value of 3 demonstrated the best balance between bias and variance while maintaining high accuracy.</a:t>
            </a:r>
          </a:p>
          <a:p>
            <a:pP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Fake Bills Classifier accepts user input for each feature, encoding categorical features into binary using the same encoder, and predicts whether the bill is genuine or counterfeit using the k-nearest neighbor classifier with a value of 3. The classifier relies on user inputs generated by a machine, with each containing distinct information about the bill. This tool is essential in discerning the authenticity of bills based on various features, aiding in the identification of legitimate versus counterfeit currency.</a:t>
            </a:r>
          </a:p>
        </p:txBody>
      </p:sp>
    </p:spTree>
    <p:extLst>
      <p:ext uri="{BB962C8B-B14F-4D97-AF65-F5344CB8AC3E}">
        <p14:creationId xmlns:p14="http://schemas.microsoft.com/office/powerpoint/2010/main" val="752891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78D31-580B-3D7E-8F5D-3BD5A533039D}"/>
              </a:ext>
            </a:extLst>
          </p:cNvPr>
          <p:cNvSpPr>
            <a:spLocks noGrp="1"/>
          </p:cNvSpPr>
          <p:nvPr>
            <p:ph type="title"/>
          </p:nvPr>
        </p:nvSpPr>
        <p:spPr>
          <a:xfrm>
            <a:off x="1143000" y="148046"/>
            <a:ext cx="9905999" cy="1297577"/>
          </a:xfrm>
        </p:spPr>
        <p:txBody>
          <a:bodyPr>
            <a:normAutofit/>
          </a:bodyPr>
          <a:lstStyle/>
          <a:p>
            <a:pPr algn="ctr"/>
            <a:r>
              <a:rPr lang="en-US" b="1" u="sng" dirty="0">
                <a:solidFill>
                  <a:srgbClr val="FFC00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1FB27071-4268-979F-E1D4-75AF6F0114DE}"/>
              </a:ext>
            </a:extLst>
          </p:cNvPr>
          <p:cNvSpPr>
            <a:spLocks noGrp="1"/>
          </p:cNvSpPr>
          <p:nvPr>
            <p:ph idx="1"/>
          </p:nvPr>
        </p:nvSpPr>
        <p:spPr>
          <a:xfrm>
            <a:off x="1143000" y="1445623"/>
            <a:ext cx="9905999" cy="4453521"/>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hlinkClick r:id="rId2"/>
              </a:rPr>
              <a:t>https://www.kaggle.com/datasets/alexandrepetit881234/fake-bills/data</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"Python for Data Analysis" by Wes McKinney: </a:t>
            </a:r>
            <a:r>
              <a:rPr lang="en-US" dirty="0">
                <a:latin typeface="Times New Roman" panose="02020603050405020304" pitchFamily="18" charset="0"/>
                <a:cs typeface="Times New Roman" panose="02020603050405020304" pitchFamily="18" charset="0"/>
                <a:hlinkClick r:id="rId3"/>
              </a:rPr>
              <a:t>https://www.oreilly.com/library/view/python-for-data/9781491957653/</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"Hands-On Machine Learning with Scikit-Learn, </a:t>
            </a:r>
            <a:r>
              <a:rPr lang="en-US" dirty="0" err="1">
                <a:latin typeface="Times New Roman" panose="02020603050405020304" pitchFamily="18" charset="0"/>
                <a:cs typeface="Times New Roman" panose="02020603050405020304" pitchFamily="18" charset="0"/>
              </a:rPr>
              <a:t>Keras</a:t>
            </a:r>
            <a:r>
              <a:rPr lang="en-US" dirty="0">
                <a:latin typeface="Times New Roman" panose="02020603050405020304" pitchFamily="18" charset="0"/>
                <a:cs typeface="Times New Roman" panose="02020603050405020304" pitchFamily="18" charset="0"/>
              </a:rPr>
              <a:t>, and TensorFlow" by </a:t>
            </a:r>
            <a:r>
              <a:rPr lang="en-US" dirty="0" err="1">
                <a:latin typeface="Times New Roman" panose="02020603050405020304" pitchFamily="18" charset="0"/>
                <a:cs typeface="Times New Roman" panose="02020603050405020304" pitchFamily="18" charset="0"/>
              </a:rPr>
              <a:t>Aurélien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Géron</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4"/>
              </a:rPr>
              <a:t>https://www.oreilly.com/library/view/hands-on-machine-learning/9781492032632/</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McKinney, Wes. "Python for Data Analysis". O'Reilly Media, 2017. </a:t>
            </a:r>
            <a:r>
              <a:rPr lang="en-US" dirty="0">
                <a:latin typeface="Times New Roman" panose="02020603050405020304" pitchFamily="18" charset="0"/>
                <a:cs typeface="Times New Roman" panose="02020603050405020304" pitchFamily="18" charset="0"/>
                <a:hlinkClick r:id="rId3"/>
              </a:rPr>
              <a:t>https://www.oreilly.com/library/view/python-for-data/9781491957653/</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hlinkClick r:id="rId5"/>
              </a:rPr>
              <a:t>https://www.youtube.com/channel/UC58v9cLitc8VaCjrcKyAbrw</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83818"/>
      </p:ext>
    </p:extLst>
  </p:cSld>
  <p:clrMapOvr>
    <a:masterClrMapping/>
  </p:clrMapOvr>
</p:sld>
</file>

<file path=ppt/theme/theme1.xml><?xml version="1.0" encoding="utf-8"?>
<a:theme xmlns:a="http://schemas.openxmlformats.org/drawingml/2006/main" name="RegattaVTI">
  <a:themeElements>
    <a:clrScheme name="AnalogousFromRegularSeed_2SEEDS">
      <a:dk1>
        <a:srgbClr val="000000"/>
      </a:dk1>
      <a:lt1>
        <a:srgbClr val="FFFFFF"/>
      </a:lt1>
      <a:dk2>
        <a:srgbClr val="1A1D2F"/>
      </a:dk2>
      <a:lt2>
        <a:srgbClr val="F0F3F3"/>
      </a:lt2>
      <a:accent1>
        <a:srgbClr val="C62A26"/>
      </a:accent1>
      <a:accent2>
        <a:srgbClr val="D83877"/>
      </a:accent2>
      <a:accent3>
        <a:srgbClr val="D87E38"/>
      </a:accent3>
      <a:accent4>
        <a:srgbClr val="2680C6"/>
      </a:accent4>
      <a:accent5>
        <a:srgbClr val="384FD8"/>
      </a:accent5>
      <a:accent6>
        <a:srgbClr val="552BC7"/>
      </a:accent6>
      <a:hlink>
        <a:srgbClr val="349A9C"/>
      </a:hlink>
      <a:folHlink>
        <a:srgbClr val="7F7F7F"/>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emplate>Organic</Template>
  <TotalTime>1933</TotalTime>
  <Words>1326</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Walbaum Display</vt:lpstr>
      <vt:lpstr>Wingdings</vt:lpstr>
      <vt:lpstr>RegattaVTI</vt:lpstr>
      <vt:lpstr>Fake Bills  </vt:lpstr>
      <vt:lpstr>Dataset Description</vt:lpstr>
      <vt:lpstr>         Objective</vt:lpstr>
      <vt:lpstr>          Finding K-Values</vt:lpstr>
      <vt:lpstr>Experiments</vt:lpstr>
      <vt:lpstr>Creating a Classifier</vt:lpstr>
      <vt:lpstr>Machine Input 1</vt:lpstr>
      <vt:lpstr>Machine Input 2</vt:lpstr>
      <vt:lpstr>Machine Input 3</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Customers</dc:title>
  <dc:creator>Dianah Mutanda</dc:creator>
  <cp:lastModifiedBy>Dianah Mutanda</cp:lastModifiedBy>
  <cp:revision>19</cp:revision>
  <dcterms:created xsi:type="dcterms:W3CDTF">2024-04-29T20:17:10Z</dcterms:created>
  <dcterms:modified xsi:type="dcterms:W3CDTF">2024-05-07T16:53:35Z</dcterms:modified>
</cp:coreProperties>
</file>